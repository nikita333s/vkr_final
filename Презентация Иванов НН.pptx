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71" r:id="rId5"/>
    <p:sldId id="272" r:id="rId6"/>
    <p:sldId id="287" r:id="rId7"/>
    <p:sldId id="288" r:id="rId8"/>
    <p:sldId id="289" r:id="rId9"/>
    <p:sldId id="290" r:id="rId10"/>
    <p:sldId id="293" r:id="rId11"/>
    <p:sldId id="294" r:id="rId12"/>
    <p:sldId id="295" r:id="rId13"/>
    <p:sldId id="285" r:id="rId14"/>
    <p:sldId id="298" r:id="rId15"/>
    <p:sldId id="296" r:id="rId1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694"/>
  </p:normalViewPr>
  <p:slideViewPr>
    <p:cSldViewPr snapToGrid="0" snapToObjects="1">
      <p:cViewPr varScale="1">
        <p:scale>
          <a:sx n="80" d="100"/>
          <a:sy n="80" d="100"/>
        </p:scale>
        <p:origin x="1013" y="58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05/05/2026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  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  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  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  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  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  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05/05/2026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162623"/>
            <a:ext cx="7767545" cy="2185259"/>
          </a:xfrm>
        </p:spPr>
        <p:txBody>
          <a:bodyPr/>
          <a:lstStyle/>
          <a:p>
            <a:r>
              <a:rPr lang="ru-RU" b="1" dirty="0"/>
              <a:t>Business Intelligence для руководителя — </a:t>
            </a:r>
            <a:r>
              <a:rPr lang="ru-RU" b="1" dirty="0" err="1"/>
              <a:t>дашборд</a:t>
            </a:r>
            <a:r>
              <a:rPr lang="ru-RU" b="1" dirty="0"/>
              <a:t> решений на уровне отдела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Аналитика больших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/>
              <a:t>Москва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5010237"/>
            <a:ext cx="7625267" cy="652860"/>
          </a:xfrm>
        </p:spPr>
        <p:txBody>
          <a:bodyPr/>
          <a:lstStyle/>
          <a:p>
            <a:r>
              <a:rPr lang="ru-RU" sz="1400" dirty="0"/>
              <a:t>Студент: Н.Н. Иванов</a:t>
            </a:r>
          </a:p>
          <a:p>
            <a:r>
              <a:rPr lang="ru-RU" sz="1400" dirty="0"/>
              <a:t>Научный руководитель: Д.Н. Фокин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Постановка задачи и цели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Проблема</a:t>
            </a:r>
          </a:p>
          <a:p>
            <a:r>
              <a:rPr lang="ru-RU" dirty="0"/>
              <a:t>Руководитель отдела продаж работает с разрозненными данными в таблицах — нет единого инструмента для оперативных решений</a:t>
            </a:r>
          </a:p>
          <a:p>
            <a:endParaRPr lang="ru-RU" dirty="0"/>
          </a:p>
          <a:p>
            <a:r>
              <a:rPr lang="ru-RU" b="1" dirty="0"/>
              <a:t>Цель работы</a:t>
            </a:r>
          </a:p>
          <a:p>
            <a:r>
              <a:rPr lang="ru-RU" dirty="0"/>
              <a:t>Разработать BI-</a:t>
            </a:r>
            <a:r>
              <a:rPr lang="ru-RU" dirty="0" err="1"/>
              <a:t>дашборд</a:t>
            </a:r>
            <a:r>
              <a:rPr lang="ru-RU" dirty="0"/>
              <a:t> для поддержки управленческих решений на уровне отдела продаж</a:t>
            </a:r>
          </a:p>
          <a:p>
            <a:endParaRPr lang="ru-RU" dirty="0"/>
          </a:p>
          <a:p>
            <a:r>
              <a:rPr lang="ru-RU" b="1" dirty="0"/>
              <a:t>Задачи</a:t>
            </a:r>
          </a:p>
          <a:p>
            <a:pPr>
              <a:buChar char="•"/>
            </a:pPr>
            <a:r>
              <a:rPr lang="ru-RU" dirty="0"/>
              <a:t>Определить систему KPI отдела продаж</a:t>
            </a:r>
          </a:p>
          <a:p>
            <a:pPr>
              <a:buChar char="•"/>
            </a:pPr>
            <a:r>
              <a:rPr lang="ru-RU" dirty="0"/>
              <a:t>Выполнить предобработку и разведочный анализ данных</a:t>
            </a:r>
          </a:p>
          <a:p>
            <a:pPr>
              <a:buChar char="•"/>
            </a:pPr>
            <a:r>
              <a:rPr lang="ru-RU" dirty="0"/>
              <a:t>Сформулировать и проверить управленческие гипотезы</a:t>
            </a:r>
          </a:p>
          <a:p>
            <a:pPr>
              <a:buChar char="•"/>
            </a:pPr>
            <a:r>
              <a:rPr lang="ru-RU" dirty="0"/>
              <a:t>Реализовать </a:t>
            </a:r>
            <a:r>
              <a:rPr lang="ru-RU" dirty="0" err="1"/>
              <a:t>дашборд</a:t>
            </a:r>
            <a:r>
              <a:rPr lang="ru-RU" dirty="0"/>
              <a:t> в </a:t>
            </a:r>
            <a:r>
              <a:rPr lang="ru-RU" dirty="0" err="1"/>
              <a:t>Yandex</a:t>
            </a:r>
            <a:r>
              <a:rPr lang="ru-RU" dirty="0"/>
              <a:t> </a:t>
            </a:r>
            <a:r>
              <a:rPr lang="ru-RU" dirty="0" err="1"/>
              <a:t>DataLens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Постановка задачи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F56AB-62D4-4604-B4DA-8C7BD9639494}"/>
              </a:ext>
            </a:extLst>
          </p:cNvPr>
          <p:cNvSpPr txBox="1"/>
          <p:nvPr/>
        </p:nvSpPr>
        <p:spPr>
          <a:xfrm>
            <a:off x="5831458" y="22248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ru-RU" sz="1200" b="1" dirty="0">
                <a:solidFill>
                  <a:srgbClr val="0E2D69"/>
                </a:solidFill>
              </a:rPr>
              <a:t>Новизна работы</a:t>
            </a:r>
          </a:p>
          <a:p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Разработана четырёхуровневая архитектура BI-</a:t>
            </a:r>
            <a:r>
              <a:rPr lang="ru-RU" sz="1200" dirty="0" err="1"/>
              <a:t>дашборда</a:t>
            </a:r>
            <a:r>
              <a:rPr lang="ru-RU" sz="1200" dirty="0"/>
              <a:t>: отдел → воронка → менеджеры → продукты</a:t>
            </a:r>
          </a:p>
          <a:p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EDA и BI объединены в единый аналитический цикл: от сырых данных до управленческого вывода</a:t>
            </a:r>
          </a:p>
          <a:p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Инструмент универсален: замена CSV-источника на подключение к любой CRM не требует изменения структуры </a:t>
            </a:r>
            <a:r>
              <a:rPr lang="ru-RU" sz="1200" dirty="0" err="1"/>
              <a:t>дашборда</a:t>
            </a:r>
            <a:endParaRPr lang="ru-RU" sz="1200" dirty="0"/>
          </a:p>
          <a:p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/>
              <a:t>Реализовано на российском ПО — </a:t>
            </a:r>
            <a:r>
              <a:rPr lang="ru-RU" sz="1200" dirty="0" err="1"/>
              <a:t>Yandex</a:t>
            </a:r>
            <a:r>
              <a:rPr lang="ru-RU" sz="1200" dirty="0"/>
              <a:t> </a:t>
            </a:r>
            <a:r>
              <a:rPr lang="ru-RU" sz="1200" dirty="0" err="1"/>
              <a:t>DataLens</a:t>
            </a:r>
            <a:r>
              <a:rPr lang="ru-RU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4435A4-3A12-4A8D-BB36-8FB464D29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8" y="1579465"/>
            <a:ext cx="5866547" cy="3699069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Данные и разведочный анализ (EDA)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Датасет</a:t>
            </a:r>
            <a:r>
              <a:rPr lang="ru-RU" b="1" dirty="0"/>
              <a:t>: CRM Sales </a:t>
            </a:r>
            <a:r>
              <a:rPr lang="ru-RU" b="1" dirty="0" err="1"/>
              <a:t>Opportunities</a:t>
            </a:r>
            <a:r>
              <a:rPr lang="ru-RU" b="1" dirty="0"/>
              <a:t> (</a:t>
            </a:r>
            <a:r>
              <a:rPr lang="ru-RU" b="1" dirty="0" err="1"/>
              <a:t>Kaggle</a:t>
            </a:r>
            <a:r>
              <a:rPr lang="ru-RU" b="1" dirty="0"/>
              <a:t>)</a:t>
            </a:r>
          </a:p>
          <a:p>
            <a:pPr>
              <a:buChar char="•"/>
            </a:pPr>
            <a:r>
              <a:rPr lang="ru-RU" dirty="0"/>
              <a:t>8 800 сделок, октябрь 2016 — декабрь 2017</a:t>
            </a:r>
          </a:p>
          <a:p>
            <a:pPr>
              <a:buChar char="•"/>
            </a:pPr>
            <a:r>
              <a:rPr lang="ru-RU" dirty="0"/>
              <a:t>30 менеджеров, 8 продуктов, 4 стадии сделки</a:t>
            </a:r>
          </a:p>
          <a:p>
            <a:pPr>
              <a:buChar char="•"/>
            </a:pPr>
            <a:r>
              <a:rPr lang="ru-RU" dirty="0"/>
              <a:t>Пропуски: </a:t>
            </a:r>
            <a:r>
              <a:rPr lang="ru-RU" dirty="0" err="1"/>
              <a:t>close_date</a:t>
            </a:r>
            <a:r>
              <a:rPr lang="ru-RU" dirty="0"/>
              <a:t> / </a:t>
            </a:r>
            <a:r>
              <a:rPr lang="ru-RU" dirty="0" err="1"/>
              <a:t>close_value</a:t>
            </a:r>
            <a:r>
              <a:rPr lang="ru-RU" dirty="0"/>
              <a:t> — 23,7% (незакрытые сделки)</a:t>
            </a:r>
          </a:p>
          <a:p>
            <a:endParaRPr lang="ru-RU" dirty="0"/>
          </a:p>
          <a:p>
            <a:r>
              <a:rPr lang="ru-RU" b="1" dirty="0"/>
              <a:t>Ключевые наблюдения EDA</a:t>
            </a:r>
          </a:p>
          <a:p>
            <a:pPr>
              <a:buChar char="•"/>
            </a:pPr>
            <a:r>
              <a:rPr lang="ru-RU" dirty="0"/>
              <a:t>Пик активности — июль 2017 (~1 200 сделок), резкий спад к ноябрю</a:t>
            </a:r>
          </a:p>
          <a:p>
            <a:pPr>
              <a:buChar char="•"/>
            </a:pPr>
            <a:r>
              <a:rPr lang="ru-RU" dirty="0"/>
              <a:t>Разброс выручки по менеджерам — в 3 раза; </a:t>
            </a:r>
            <a:r>
              <a:rPr lang="ru-RU" dirty="0" err="1"/>
              <a:t>Win</a:t>
            </a:r>
            <a:r>
              <a:rPr lang="ru-RU" dirty="0"/>
              <a:t> Rate: 40–65%</a:t>
            </a:r>
          </a:p>
          <a:p>
            <a:pPr>
              <a:buChar char="•"/>
            </a:pPr>
            <a:r>
              <a:rPr lang="ru-RU" dirty="0"/>
              <a:t>Бимодальное распределение длительности: пик до 20 дней + «хвост» от 100 дней</a:t>
            </a:r>
          </a:p>
          <a:p>
            <a:pPr>
              <a:buChar char="•"/>
            </a:pPr>
            <a:r>
              <a:rPr lang="ru-RU" dirty="0"/>
              <a:t>3 продукта (</a:t>
            </a:r>
            <a:r>
              <a:rPr lang="ru-RU" dirty="0" err="1"/>
              <a:t>GTXPro</a:t>
            </a:r>
            <a:r>
              <a:rPr lang="ru-RU" dirty="0"/>
              <a:t>, GTX Plus Pro, MG Advanced) формируют основную выручку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Данные и EDA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Управленческие гипотезы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b="1" dirty="0"/>
              <a:t>H1: Эффективность менеджеров существенно различается</a:t>
            </a:r>
          </a:p>
          <a:p>
            <a:r>
              <a:rPr lang="ru-RU" dirty="0" err="1"/>
              <a:t>Win</a:t>
            </a:r>
            <a:r>
              <a:rPr lang="ru-RU" dirty="0"/>
              <a:t> Rate: 40–65%, разброс выручки в 3 раза, средний чек отличается в 2,5–3 раза</a:t>
            </a:r>
          </a:p>
          <a:p>
            <a:endParaRPr lang="ru-RU" dirty="0"/>
          </a:p>
          <a:p>
            <a:r>
              <a:rPr lang="ru-RU" b="1" dirty="0"/>
              <a:t>H2: Длительность цикла сделки влияет на её успешность</a:t>
            </a:r>
          </a:p>
          <a:p>
            <a:r>
              <a:rPr lang="ru-RU" dirty="0"/>
              <a:t>Сделки до 20 дней чаще завершаются </a:t>
            </a:r>
            <a:r>
              <a:rPr lang="ru-RU" dirty="0" err="1"/>
              <a:t>Won</a:t>
            </a:r>
            <a:r>
              <a:rPr lang="ru-RU" dirty="0"/>
              <a:t>; длинные сделки — не всегда </a:t>
            </a:r>
            <a:r>
              <a:rPr lang="ru-RU" dirty="0" err="1"/>
              <a:t>Lost</a:t>
            </a:r>
            <a:r>
              <a:rPr lang="ru-RU" dirty="0"/>
              <a:t> (крупные контракты)</a:t>
            </a:r>
          </a:p>
          <a:p>
            <a:endParaRPr lang="ru-RU" dirty="0"/>
          </a:p>
          <a:p>
            <a:r>
              <a:rPr lang="ru-RU" b="1" dirty="0"/>
              <a:t>H3: Высокая выручка достигается двумя путями</a:t>
            </a:r>
          </a:p>
          <a:p>
            <a:r>
              <a:rPr lang="ru-RU" dirty="0"/>
              <a:t>Стратегия объёма (много сделок с низким чеком) </a:t>
            </a:r>
            <a:r>
              <a:rPr lang="ru-RU" dirty="0" err="1"/>
              <a:t>vs</a:t>
            </a:r>
            <a:r>
              <a:rPr lang="ru-RU" dirty="0"/>
              <a:t> стратегия ценности (мало сделок, высокий чек)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Управленческие гипотезы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Архитектура решения и выбор платформы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Архитектура: трёхзвенная схема</a:t>
            </a:r>
          </a:p>
          <a:p>
            <a:r>
              <a:rPr lang="ru-RU" dirty="0"/>
              <a:t>CSV (</a:t>
            </a:r>
            <a:r>
              <a:rPr lang="ru-RU" dirty="0" err="1"/>
              <a:t>Kaggle</a:t>
            </a:r>
            <a:r>
              <a:rPr lang="ru-RU" dirty="0"/>
              <a:t>) → Python (очистка, </a:t>
            </a:r>
            <a:r>
              <a:rPr lang="ru-RU" dirty="0" err="1"/>
              <a:t>is_won</a:t>
            </a:r>
            <a:r>
              <a:rPr lang="ru-RU" dirty="0"/>
              <a:t>, </a:t>
            </a:r>
            <a:r>
              <a:rPr lang="ru-RU" dirty="0" err="1"/>
              <a:t>deal_duration</a:t>
            </a:r>
            <a:r>
              <a:rPr lang="ru-RU" dirty="0"/>
              <a:t>, </a:t>
            </a:r>
            <a:r>
              <a:rPr lang="ru-RU" dirty="0" err="1"/>
              <a:t>month</a:t>
            </a:r>
            <a:r>
              <a:rPr lang="ru-RU" dirty="0"/>
              <a:t>) →</a:t>
            </a:r>
            <a:br>
              <a:rPr lang="ru-RU" dirty="0"/>
            </a:br>
            <a:r>
              <a:rPr lang="ru-RU" dirty="0"/>
              <a:t> </a:t>
            </a:r>
            <a:r>
              <a:rPr lang="ru-RU" dirty="0" err="1"/>
              <a:t>Yandex</a:t>
            </a:r>
            <a:r>
              <a:rPr lang="ru-RU" dirty="0"/>
              <a:t> </a:t>
            </a:r>
            <a:r>
              <a:rPr lang="ru-RU" dirty="0" err="1"/>
              <a:t>DataLens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Сравнение BI-платформ</a:t>
            </a:r>
          </a:p>
          <a:p>
            <a:pPr>
              <a:buChar char="•"/>
            </a:pPr>
            <a:r>
              <a:rPr lang="ru-RU" dirty="0"/>
              <a:t>Power BI — мощный, платный, требует лицензии</a:t>
            </a:r>
          </a:p>
          <a:p>
            <a:pPr>
              <a:buChar char="•"/>
            </a:pPr>
            <a:r>
              <a:rPr lang="ru-RU" dirty="0" err="1"/>
              <a:t>Tableau</a:t>
            </a:r>
            <a:r>
              <a:rPr lang="ru-RU" dirty="0"/>
              <a:t> — лучшие визуализации, дорого, высокий порог входа</a:t>
            </a:r>
          </a:p>
          <a:p>
            <a:pPr>
              <a:buChar char="•"/>
            </a:pPr>
            <a:r>
              <a:rPr lang="ru-RU" dirty="0" err="1"/>
              <a:t>Qlik</a:t>
            </a:r>
            <a:r>
              <a:rPr lang="ru-RU" dirty="0"/>
              <a:t> — ассоциативная модель данных, сложнее в освоении</a:t>
            </a:r>
          </a:p>
          <a:p>
            <a:pPr>
              <a:buChar char="•"/>
            </a:pPr>
            <a:r>
              <a:rPr lang="ru-RU" dirty="0" err="1"/>
              <a:t>Yandex</a:t>
            </a:r>
            <a:r>
              <a:rPr lang="ru-RU" dirty="0"/>
              <a:t> </a:t>
            </a:r>
            <a:r>
              <a:rPr lang="ru-RU" dirty="0" err="1"/>
              <a:t>DataLens</a:t>
            </a:r>
            <a:r>
              <a:rPr lang="ru-RU" dirty="0"/>
              <a:t> — бесплатно, многофункционален, российское ПО, удобен в работе</a:t>
            </a:r>
            <a:r>
              <a:rPr lang="ru-RU" b="1" dirty="0"/>
              <a:t> ✓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Архитектура и платформа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BAA02AF8-F645-4EDB-B845-8D2AE0793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42770"/>
              </p:ext>
            </p:extLst>
          </p:nvPr>
        </p:nvGraphicFramePr>
        <p:xfrm>
          <a:off x="5141277" y="1486822"/>
          <a:ext cx="6812596" cy="3275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6612">
                  <a:extLst>
                    <a:ext uri="{9D8B030D-6E8A-4147-A177-3AD203B41FA5}">
                      <a16:colId xmlns:a16="http://schemas.microsoft.com/office/drawing/2014/main" val="3183730670"/>
                    </a:ext>
                  </a:extLst>
                </a:gridCol>
                <a:gridCol w="1122787">
                  <a:extLst>
                    <a:ext uri="{9D8B030D-6E8A-4147-A177-3AD203B41FA5}">
                      <a16:colId xmlns:a16="http://schemas.microsoft.com/office/drawing/2014/main" val="802220691"/>
                    </a:ext>
                  </a:extLst>
                </a:gridCol>
                <a:gridCol w="1122787">
                  <a:extLst>
                    <a:ext uri="{9D8B030D-6E8A-4147-A177-3AD203B41FA5}">
                      <a16:colId xmlns:a16="http://schemas.microsoft.com/office/drawing/2014/main" val="2933445119"/>
                    </a:ext>
                  </a:extLst>
                </a:gridCol>
                <a:gridCol w="1122787">
                  <a:extLst>
                    <a:ext uri="{9D8B030D-6E8A-4147-A177-3AD203B41FA5}">
                      <a16:colId xmlns:a16="http://schemas.microsoft.com/office/drawing/2014/main" val="686815406"/>
                    </a:ext>
                  </a:extLst>
                </a:gridCol>
                <a:gridCol w="1347623">
                  <a:extLst>
                    <a:ext uri="{9D8B030D-6E8A-4147-A177-3AD203B41FA5}">
                      <a16:colId xmlns:a16="http://schemas.microsoft.com/office/drawing/2014/main" val="4007023187"/>
                    </a:ext>
                  </a:extLst>
                </a:gridCol>
              </a:tblGrid>
              <a:tr h="5623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Критерий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Power BI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Tableau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Qlik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Yandex DataLens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53210481"/>
                  </a:ext>
                </a:extLst>
              </a:tr>
              <a:tr h="6409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Функциональность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Очень высокая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Средняя / высокая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50237761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Качество визуализации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Хорошее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Отличное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Хорошее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Хорошее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80299202"/>
                  </a:ext>
                </a:extLst>
              </a:tr>
              <a:tr h="6409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Интеграция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Отличная (MS)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Широкая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Широкая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Хорошая (Cloud)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32564758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Удобство освоения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Высокое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Среднее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Среднее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Высокое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62611543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Стоимость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Платный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Дорогой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Платный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Бесплатный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48114194"/>
                  </a:ext>
                </a:extLst>
              </a:tr>
              <a:tr h="3578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Порог входа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Низкий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Средний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Средний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Низкий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75122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Дашборд в Yandex DataLens — 4 страницы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000" b="1" dirty="0"/>
              <a:t>Стр. 1 — Эффективность отдела продаж</a:t>
            </a:r>
          </a:p>
          <a:p>
            <a:endParaRPr lang="ru-RU" dirty="0"/>
          </a:p>
          <a:p>
            <a:r>
              <a:rPr lang="ru-RU" b="1" dirty="0"/>
              <a:t>KPI-карточки (верхний уровень)</a:t>
            </a:r>
          </a:p>
          <a:p>
            <a:pPr>
              <a:buChar char="•"/>
            </a:pPr>
            <a:r>
              <a:rPr lang="ru-RU" dirty="0"/>
              <a:t>8 800 сделок | 10 005 534 руб. | 1 490,92 руб. | </a:t>
            </a:r>
            <a:r>
              <a:rPr lang="ru-RU" dirty="0" err="1"/>
              <a:t>Win</a:t>
            </a:r>
            <a:r>
              <a:rPr lang="ru-RU" dirty="0"/>
              <a:t> Rate 48,16%</a:t>
            </a:r>
          </a:p>
          <a:p>
            <a:endParaRPr lang="ru-RU" dirty="0"/>
          </a:p>
          <a:p>
            <a:r>
              <a:rPr lang="ru-RU" b="1" dirty="0"/>
              <a:t>Визуализации</a:t>
            </a:r>
          </a:p>
          <a:p>
            <a:pPr>
              <a:buChar char="•"/>
            </a:pPr>
            <a:r>
              <a:rPr lang="ru-RU" dirty="0"/>
              <a:t>Линейный график: динамика сделок и выручки по месяцам</a:t>
            </a:r>
          </a:p>
          <a:p>
            <a:pPr>
              <a:buChar char="•"/>
            </a:pPr>
            <a:r>
              <a:rPr lang="ru-RU" dirty="0"/>
              <a:t>Круговая диаграмма: структура выручки по продуктам</a:t>
            </a:r>
          </a:p>
          <a:p>
            <a:pPr>
              <a:buChar char="•"/>
            </a:pPr>
            <a:r>
              <a:rPr lang="ru-RU" dirty="0"/>
              <a:t>Столбчатая: распределение сделок по стадиям воронки</a:t>
            </a:r>
          </a:p>
          <a:p>
            <a:pPr>
              <a:buChar char="•"/>
            </a:pPr>
            <a:r>
              <a:rPr lang="ru-RU" dirty="0" err="1"/>
              <a:t>Win</a:t>
            </a:r>
            <a:r>
              <a:rPr lang="ru-RU" dirty="0"/>
              <a:t> Rate по месяцам (тренд конверсии)</a:t>
            </a:r>
          </a:p>
          <a:p>
            <a:endParaRPr lang="ru-RU" dirty="0"/>
          </a:p>
          <a:p>
            <a:r>
              <a:rPr lang="ru-RU" dirty="0"/>
              <a:t>Фильтры: месяц / менеджер / продукт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Дашборд: стр. 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FF3DA4-B29A-4B1E-84FC-F20BD7CB5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1" y="1950977"/>
            <a:ext cx="7153274" cy="32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Воронка продаж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971674"/>
            <a:ext cx="3881327" cy="4448175"/>
          </a:xfrm>
        </p:spPr>
        <p:txBody>
          <a:bodyPr/>
          <a:lstStyle/>
          <a:p>
            <a:r>
              <a:rPr lang="ru-RU" b="1" dirty="0"/>
              <a:t>KPI-карточки</a:t>
            </a:r>
          </a:p>
          <a:p>
            <a:pPr>
              <a:buChar char="•"/>
            </a:pPr>
            <a:r>
              <a:rPr lang="ru-RU" dirty="0"/>
              <a:t>8 800 сделок | </a:t>
            </a:r>
            <a:r>
              <a:rPr lang="ru-RU" dirty="0" err="1"/>
              <a:t>Won</a:t>
            </a:r>
            <a:r>
              <a:rPr lang="ru-RU" dirty="0"/>
              <a:t>: 4 238 (48,16%) | не-</a:t>
            </a:r>
            <a:r>
              <a:rPr lang="ru-RU" dirty="0" err="1"/>
              <a:t>Won</a:t>
            </a:r>
            <a:r>
              <a:rPr lang="ru-RU" dirty="0"/>
              <a:t>: 4 562 (51,84%)</a:t>
            </a:r>
          </a:p>
          <a:p>
            <a:endParaRPr lang="ru-RU" dirty="0"/>
          </a:p>
          <a:p>
            <a:r>
              <a:rPr lang="ru-RU" b="1" dirty="0"/>
              <a:t>Визуализации</a:t>
            </a:r>
          </a:p>
          <a:p>
            <a:pPr>
              <a:buChar char="•"/>
            </a:pPr>
            <a:r>
              <a:rPr lang="ru-RU" dirty="0"/>
              <a:t>Столбчатая: </a:t>
            </a:r>
            <a:r>
              <a:rPr lang="ru-RU" dirty="0" err="1"/>
              <a:t>Won</a:t>
            </a:r>
            <a:r>
              <a:rPr lang="ru-RU" dirty="0"/>
              <a:t> 4 238 / </a:t>
            </a:r>
            <a:r>
              <a:rPr lang="ru-RU" dirty="0" err="1"/>
              <a:t>Lost</a:t>
            </a:r>
            <a:r>
              <a:rPr lang="ru-RU" dirty="0"/>
              <a:t> ~2 500 / </a:t>
            </a:r>
            <a:r>
              <a:rPr lang="ru-RU" dirty="0" err="1"/>
              <a:t>Engaging</a:t>
            </a:r>
            <a:r>
              <a:rPr lang="ru-RU" dirty="0"/>
              <a:t> ~1 600 / </a:t>
            </a:r>
            <a:r>
              <a:rPr lang="ru-RU" dirty="0" err="1"/>
              <a:t>Prospecting</a:t>
            </a:r>
            <a:r>
              <a:rPr lang="ru-RU" dirty="0"/>
              <a:t> ~500</a:t>
            </a:r>
          </a:p>
          <a:p>
            <a:pPr>
              <a:buChar char="•"/>
            </a:pPr>
            <a:r>
              <a:rPr lang="ru-RU" dirty="0"/>
              <a:t>Кольцевая диаграмма: </a:t>
            </a:r>
            <a:r>
              <a:rPr lang="ru-RU" dirty="0" err="1"/>
              <a:t>Won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не-</a:t>
            </a:r>
            <a:r>
              <a:rPr lang="ru-RU" dirty="0" err="1"/>
              <a:t>Won</a:t>
            </a:r>
            <a:endParaRPr lang="ru-RU" dirty="0"/>
          </a:p>
          <a:p>
            <a:pPr>
              <a:buChar char="•"/>
            </a:pPr>
            <a:r>
              <a:rPr lang="ru-RU" dirty="0"/>
              <a:t>Гистограмма длительности: 6 интервалов (0–10, 11–20, 21–30, 31–50, 51–100, 100+ дней)</a:t>
            </a:r>
          </a:p>
          <a:p>
            <a:endParaRPr lang="ru-RU" dirty="0"/>
          </a:p>
          <a:p>
            <a:r>
              <a:rPr lang="ru-RU" dirty="0"/>
              <a:t>Фильтры: месяц / менеджер / продукт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Дашборд: стр. 2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C788CF-24A5-465D-B974-AC2742EF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833" y="1708982"/>
            <a:ext cx="7452191" cy="32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Эффективность менеджеров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914525"/>
            <a:ext cx="4128978" cy="3858372"/>
          </a:xfrm>
        </p:spPr>
        <p:txBody>
          <a:bodyPr/>
          <a:lstStyle/>
          <a:p>
            <a:r>
              <a:rPr lang="ru-RU" b="1" dirty="0"/>
              <a:t>5 сравнительных диаграмм по 30 менеджерам</a:t>
            </a:r>
          </a:p>
          <a:p>
            <a:pPr>
              <a:buChar char="•"/>
            </a:pPr>
            <a:r>
              <a:rPr lang="ru-RU" dirty="0"/>
              <a:t>Выручка: лидер </a:t>
            </a:r>
            <a:r>
              <a:rPr lang="ru-RU" dirty="0" err="1"/>
              <a:t>Darcel</a:t>
            </a:r>
            <a:r>
              <a:rPr lang="ru-RU" dirty="0"/>
              <a:t> </a:t>
            </a:r>
            <a:r>
              <a:rPr lang="ru-RU" dirty="0" err="1"/>
              <a:t>Schlecht</a:t>
            </a:r>
            <a:r>
              <a:rPr lang="ru-RU" dirty="0"/>
              <a:t> ~1,15 млн руб. (в 3 раза выше медианы)</a:t>
            </a:r>
          </a:p>
          <a:p>
            <a:pPr>
              <a:buChar char="•"/>
            </a:pPr>
            <a:r>
              <a:rPr lang="ru-RU" dirty="0" err="1"/>
              <a:t>Win</a:t>
            </a:r>
            <a:r>
              <a:rPr lang="ru-RU" dirty="0"/>
              <a:t> Rate: диапазон 40–65%</a:t>
            </a:r>
          </a:p>
          <a:p>
            <a:pPr>
              <a:buChar char="•"/>
            </a:pPr>
            <a:r>
              <a:rPr lang="ru-RU" dirty="0"/>
              <a:t>Средний чек: разброс в 2,5–3 раза (стратегия объёма </a:t>
            </a:r>
            <a:r>
              <a:rPr lang="ru-RU" dirty="0" err="1"/>
              <a:t>vs</a:t>
            </a:r>
            <a:r>
              <a:rPr lang="ru-RU" dirty="0"/>
              <a:t> стратегия ценности)</a:t>
            </a:r>
          </a:p>
          <a:p>
            <a:pPr>
              <a:buChar char="•"/>
            </a:pPr>
            <a:r>
              <a:rPr lang="ru-RU" dirty="0"/>
              <a:t>Количество сделок и средняя длительность по каждому менеджеру</a:t>
            </a:r>
          </a:p>
          <a:p>
            <a:pPr>
              <a:buChar char="•"/>
            </a:pPr>
            <a:r>
              <a:rPr lang="ru-RU" dirty="0"/>
              <a:t>Тепловая раскраска столбцов по значению </a:t>
            </a:r>
            <a:r>
              <a:rPr lang="ru-RU" dirty="0" err="1"/>
              <a:t>Win</a:t>
            </a:r>
            <a:r>
              <a:rPr lang="ru-RU" dirty="0"/>
              <a:t> Rate</a:t>
            </a:r>
          </a:p>
          <a:p>
            <a:endParaRPr lang="ru-RU" dirty="0"/>
          </a:p>
          <a:p>
            <a:r>
              <a:rPr lang="ru-RU" dirty="0"/>
              <a:t>Фильтры: месяц / продукт / менеджер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Дашборд: стр. 3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C47905-57F5-4FB8-9A5A-A46E75382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6" y="1577115"/>
            <a:ext cx="7210423" cy="350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Анализ факторов продаж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1914525"/>
            <a:ext cx="4090878" cy="3858372"/>
          </a:xfrm>
        </p:spPr>
        <p:txBody>
          <a:bodyPr/>
          <a:lstStyle/>
          <a:p>
            <a:r>
              <a:rPr lang="ru-RU" b="1" dirty="0"/>
              <a:t>Продуктовый портфель: 8 наименований</a:t>
            </a:r>
          </a:p>
          <a:p>
            <a:pPr>
              <a:buChar char="•"/>
            </a:pPr>
            <a:r>
              <a:rPr lang="ru-RU" dirty="0"/>
              <a:t>Выручка по продуктам: </a:t>
            </a:r>
            <a:r>
              <a:rPr lang="ru-RU" dirty="0" err="1"/>
              <a:t>GTXPro</a:t>
            </a:r>
            <a:r>
              <a:rPr lang="ru-RU" dirty="0"/>
              <a:t> / GTX Plus Pro / MG Advanced — лидеры</a:t>
            </a:r>
          </a:p>
          <a:p>
            <a:pPr>
              <a:buChar char="•"/>
            </a:pPr>
            <a:r>
              <a:rPr lang="ru-RU" dirty="0" err="1"/>
              <a:t>Win</a:t>
            </a:r>
            <a:r>
              <a:rPr lang="ru-RU" dirty="0"/>
              <a:t> Rate по продуктам: сравнение конверсии внутри ассортимента</a:t>
            </a:r>
          </a:p>
          <a:p>
            <a:pPr>
              <a:buChar char="•"/>
            </a:pPr>
            <a:r>
              <a:rPr lang="ru-RU" dirty="0"/>
              <a:t>Средний чек: дорогие продукты дают выручку за счёт чека, бюджетные — за счёт объёма</a:t>
            </a:r>
          </a:p>
          <a:p>
            <a:pPr>
              <a:buChar char="•"/>
            </a:pPr>
            <a:r>
              <a:rPr lang="ru-RU" dirty="0"/>
              <a:t>Количество сделок по продуктам</a:t>
            </a:r>
          </a:p>
          <a:p>
            <a:endParaRPr lang="ru-RU" dirty="0"/>
          </a:p>
          <a:p>
            <a:r>
              <a:rPr lang="ru-RU" dirty="0"/>
              <a:t>Фильтры: месяц / продукт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Дашборд: стр. 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D3CE58-F504-4BE9-AA1D-D42B0CB27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6" y="1438264"/>
            <a:ext cx="7124699" cy="340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3" name="hdr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4" name="hdr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Выводы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457200" y="1143000"/>
            <a:ext cx="86868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000" b="1" dirty="0">
                <a:solidFill>
                  <a:srgbClr val="1F3864"/>
                </a:solidFill>
              </a:rPr>
              <a:t>Выводы и практическая ценность</a:t>
            </a:r>
          </a:p>
        </p:txBody>
      </p:sp>
      <p:sp>
        <p:nvSpPr>
          <p:cNvPr id="6" name="col1"/>
          <p:cNvSpPr>
            <a:spLocks noGrp="1"/>
          </p:cNvSpPr>
          <p:nvPr/>
        </p:nvSpPr>
        <p:spPr>
          <a:xfrm>
            <a:off x="457200" y="1676400"/>
            <a:ext cx="2743200" cy="2895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300" b="1" dirty="0">
                <a:solidFill>
                  <a:srgbClr val="1F3864"/>
                </a:solidFill>
              </a:rPr>
              <a:t> Гипотезы проверены</a:t>
            </a:r>
          </a:p>
          <a:p>
            <a:endParaRPr lang="ru-RU" sz="1100" dirty="0"/>
          </a:p>
          <a:p>
            <a:pPr>
              <a:buChar char="•"/>
            </a:pPr>
            <a:r>
              <a:rPr lang="ru-RU" sz="1200" b="1" dirty="0"/>
              <a:t>H1 подтверждена</a:t>
            </a:r>
          </a:p>
          <a:p>
            <a:r>
              <a:rPr lang="ru-RU" sz="1100" dirty="0">
                <a:solidFill>
                  <a:srgbClr val="444444"/>
                </a:solidFill>
              </a:rPr>
              <a:t>Win Rate 40–65%, выручка в 3 раза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b="1" dirty="0"/>
              <a:t>H2 частично подтверждена</a:t>
            </a:r>
          </a:p>
          <a:p>
            <a:r>
              <a:rPr lang="ru-RU" sz="1100" dirty="0">
                <a:solidFill>
                  <a:srgbClr val="444444"/>
                </a:solidFill>
              </a:rPr>
              <a:t>Сделки до 20 дней чаще Won, длинный цикл ≠ Lost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b="1" dirty="0"/>
              <a:t>H3 подтверждена</a:t>
            </a:r>
          </a:p>
          <a:p>
            <a:r>
              <a:rPr lang="ru-RU" sz="1100" dirty="0">
                <a:solidFill>
                  <a:srgbClr val="444444"/>
                </a:solidFill>
              </a:rPr>
              <a:t>Объём сделок vs высокий чек — обе стратегии работают</a:t>
            </a:r>
          </a:p>
        </p:txBody>
      </p:sp>
      <p:sp>
        <p:nvSpPr>
          <p:cNvPr id="7" name="col2"/>
          <p:cNvSpPr>
            <a:spLocks noGrp="1"/>
          </p:cNvSpPr>
          <p:nvPr/>
        </p:nvSpPr>
        <p:spPr>
          <a:xfrm>
            <a:off x="3352800" y="1676400"/>
            <a:ext cx="2743200" cy="2895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300" b="1" dirty="0">
                <a:solidFill>
                  <a:srgbClr val="1F3864"/>
                </a:solidFill>
              </a:rPr>
              <a:t>Новизна работы</a:t>
            </a:r>
          </a:p>
          <a:p>
            <a:endParaRPr lang="ru-RU" sz="1100" dirty="0"/>
          </a:p>
          <a:p>
            <a:pPr>
              <a:buChar char="•"/>
            </a:pPr>
            <a:r>
              <a:rPr lang="ru-RU" sz="1200" dirty="0"/>
              <a:t>Четырёхуровневая архитектура: отдел → воронка → менеджеры → продукты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Инструмент универсален: замена CSV на любую CRM не меняет структуру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EDA и BI объединены в единый цикл: от данных до управленческого вывода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Разработан на российском ПО — Yandex DataLens (реестр Минцифры)</a:t>
            </a:r>
          </a:p>
        </p:txBody>
      </p:sp>
      <p:sp>
        <p:nvSpPr>
          <p:cNvPr id="8" name="col3"/>
          <p:cNvSpPr>
            <a:spLocks noGrp="1"/>
          </p:cNvSpPr>
          <p:nvPr/>
        </p:nvSpPr>
        <p:spPr>
          <a:xfrm>
            <a:off x="6248400" y="1676400"/>
            <a:ext cx="2895600" cy="2895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1300" b="1" dirty="0">
                <a:solidFill>
                  <a:srgbClr val="1F3864"/>
                </a:solidFill>
              </a:rPr>
              <a:t> Дашборд позволяет</a:t>
            </a:r>
          </a:p>
          <a:p>
            <a:endParaRPr lang="ru-RU" sz="1100" dirty="0"/>
          </a:p>
          <a:p>
            <a:pPr>
              <a:buChar char="•"/>
            </a:pPr>
            <a:r>
              <a:rPr lang="ru-RU" sz="1200" dirty="0"/>
              <a:t>Контролировать KPI отдела в моменте — без ожидания отчётов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Находить узкие места: на каком этапе воронки теряются клиенты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Сравнивать менеджеров и тиражировать лучшие практики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Выявлять высокомаржинальные продукты</a:t>
            </a:r>
          </a:p>
          <a:p>
            <a:endParaRPr lang="ru-RU" sz="1000" dirty="0"/>
          </a:p>
          <a:p>
            <a:pPr>
              <a:buChar char="•"/>
            </a:pPr>
            <a:r>
              <a:rPr lang="ru-RU" sz="1200" dirty="0"/>
              <a:t>Принимать решения на основе данных, а не интуиции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Дальнейшее развитие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sz="1400" b="1" dirty="0"/>
              <a:t>Техническое развитие</a:t>
            </a:r>
          </a:p>
          <a:p>
            <a:pPr>
              <a:buChar char="•"/>
            </a:pPr>
            <a:r>
              <a:rPr lang="ru-RU" sz="1400" dirty="0"/>
              <a:t>Интеграция с Bitrix24 / amoCRM через API — убрать ручную загрузку данных</a:t>
            </a:r>
          </a:p>
          <a:p>
            <a:pPr>
              <a:buChar char="•"/>
            </a:pPr>
            <a:r>
              <a:rPr lang="ru-RU" sz="1400" dirty="0"/>
              <a:t>Прогнозная модель вероятности закрытия сделки на ранней стадии</a:t>
            </a:r>
          </a:p>
          <a:p>
            <a:pPr>
              <a:buChar char="•"/>
            </a:pPr>
            <a:r>
              <a:rPr lang="ru-RU" sz="1400" dirty="0"/>
              <a:t>Автоматические алерты при отклонении KPI от нормы</a:t>
            </a:r>
          </a:p>
          <a:p>
            <a:endParaRPr lang="ru-RU" sz="1400"/>
          </a:p>
          <a:p>
            <a:r>
              <a:rPr lang="ru-RU" sz="1400" b="1" dirty="0"/>
              <a:t>Расширение аналитики</a:t>
            </a:r>
          </a:p>
          <a:p>
            <a:pPr>
              <a:buChar char="•"/>
            </a:pPr>
            <a:r>
              <a:rPr lang="ru-RU" sz="1400" dirty="0"/>
              <a:t>Добавить метрики LTV клиента и стоимости привлечения лида (CAC)</a:t>
            </a:r>
          </a:p>
          <a:p>
            <a:pPr>
              <a:buChar char="•"/>
            </a:pPr>
            <a:r>
              <a:rPr lang="ru-RU" sz="1400" dirty="0"/>
              <a:t>Сегментация клиентской базы по поведенческим паттернам</a:t>
            </a:r>
          </a:p>
          <a:p>
            <a:pPr>
              <a:buChar char="•"/>
            </a:pPr>
            <a:r>
              <a:rPr lang="ru-RU" sz="1400" dirty="0"/>
              <a:t>Масштабирование на другие отделы: маркетинг, поддержка, логистика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000"/>
              <a:t>Факультет компьютерных наук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000"/>
              <a:t>BI-дашборд отдела продаж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000"/>
              <a:t>Дальнейшее развитие</a:t>
            </a:r>
          </a:p>
        </p:txBody>
      </p:sp>
    </p:spTree>
    <p:extLst>
      <p:ext uri="{BB962C8B-B14F-4D97-AF65-F5344CB8AC3E}">
        <p14:creationId xmlns:p14="http://schemas.microsoft.com/office/powerpoint/2010/main" val="122139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>
            <a:spLocks noGrp="1"/>
          </p:cNvSpPr>
          <p:nvPr/>
        </p:nvSpPr>
        <p:spPr>
          <a:xfrm>
            <a:off x="1864658" y="224118"/>
            <a:ext cx="9144000" cy="16002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ru-RU" sz="4400" b="1" dirty="0">
                <a:solidFill>
                  <a:srgbClr val="FFFFFF"/>
                </a:solidFill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1014</Words>
  <Application>Microsoft Office PowerPoint</Application>
  <PresentationFormat>Широкоэкранный</PresentationFormat>
  <Paragraphs>203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HSE Sans</vt:lpstr>
      <vt:lpstr>Times New Roman</vt:lpstr>
      <vt:lpstr>Office Theme</vt:lpstr>
      <vt:lpstr>Business Intelligence для руководителя — дашборд решений на уровне отдела</vt:lpstr>
      <vt:lpstr>Постановка задачи и цели</vt:lpstr>
      <vt:lpstr>Данные и разведочный анализ (EDA)</vt:lpstr>
      <vt:lpstr>Управленческие гипотезы</vt:lpstr>
      <vt:lpstr>Архитектура решения и выбор платформы</vt:lpstr>
      <vt:lpstr>Дашборд в Yandex DataLens — 4 страницы</vt:lpstr>
      <vt:lpstr>Воронка продаж</vt:lpstr>
      <vt:lpstr>Эффективность менеджеров</vt:lpstr>
      <vt:lpstr>Анализ факторов продаж</vt:lpstr>
      <vt:lpstr>Презентация PowerPoint</vt:lpstr>
      <vt:lpstr>Дальнейшее развитие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Nikita Ivanov</cp:lastModifiedBy>
  <cp:revision>18</cp:revision>
  <cp:lastPrinted>2021-11-11T13:08:42Z</cp:lastPrinted>
  <dcterms:created xsi:type="dcterms:W3CDTF">2021-11-11T08:52:47Z</dcterms:created>
  <dcterms:modified xsi:type="dcterms:W3CDTF">2026-05-05T19:45:06Z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